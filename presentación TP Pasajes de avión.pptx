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Lst>
  <p:sldSz cy="5143500" cx="9144000"/>
  <p:notesSz cx="6858000" cy="9144000"/>
  <p:embeddedFontLst>
    <p:embeddedFont>
      <p:font typeface="Amatic SC"/>
      <p:regular r:id="rId12"/>
      <p:bold r:id="rId1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font" Target="fonts/AmaticSC-bold.fntdata"/><Relationship Id="rId12" Type="http://schemas.openxmlformats.org/officeDocument/2006/relationships/font" Target="fonts/AmaticSC-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g39fa150fe63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g39fa150fe63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39fa150fe63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39fa150fe63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9fa150fe63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39fa150fe63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9fa150fe63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39fa150fe63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9fa150fe63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39fa150fe63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s-419"/>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0.gif"/><Relationship Id="rId4" Type="http://schemas.openxmlformats.org/officeDocument/2006/relationships/image" Target="../media/image2.png"/><Relationship Id="rId5" Type="http://schemas.openxmlformats.org/officeDocument/2006/relationships/image" Target="../media/image7.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8.gif"/><Relationship Id="rId5" Type="http://schemas.openxmlformats.org/officeDocument/2006/relationships/image" Target="../media/image9.gi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pic>
        <p:nvPicPr>
          <p:cNvPr descr="a blue and white sunexpress airplane is flying in the air (proporcionada por Tenor)" id="54" name="Google Shape;54;p13"/>
          <p:cNvPicPr preferRelativeResize="0"/>
          <p:nvPr/>
        </p:nvPicPr>
        <p:blipFill>
          <a:blip r:embed="rId3">
            <a:alphaModFix amt="27000"/>
          </a:blip>
          <a:stretch>
            <a:fillRect/>
          </a:stretch>
        </p:blipFill>
        <p:spPr>
          <a:xfrm>
            <a:off x="0" y="13680"/>
            <a:ext cx="9144000" cy="5143500"/>
          </a:xfrm>
          <a:prstGeom prst="rect">
            <a:avLst/>
          </a:prstGeom>
          <a:noFill/>
          <a:ln>
            <a:noFill/>
          </a:ln>
          <a:effectLst>
            <a:outerShdw blurRad="57150" rotWithShape="0" algn="bl" dir="5400000" dist="19050">
              <a:srgbClr val="1155CC">
                <a:alpha val="95000"/>
              </a:srgbClr>
            </a:outerShdw>
          </a:effectLst>
        </p:spPr>
      </p:pic>
      <p:pic>
        <p:nvPicPr>
          <p:cNvPr id="55" name="Google Shape;55;p13" title="logo unab.png"/>
          <p:cNvPicPr preferRelativeResize="0"/>
          <p:nvPr/>
        </p:nvPicPr>
        <p:blipFill>
          <a:blip r:embed="rId4">
            <a:alphaModFix/>
          </a:blip>
          <a:stretch>
            <a:fillRect/>
          </a:stretch>
        </p:blipFill>
        <p:spPr>
          <a:xfrm>
            <a:off x="6155775" y="152400"/>
            <a:ext cx="2988225" cy="1625600"/>
          </a:xfrm>
          <a:prstGeom prst="rect">
            <a:avLst/>
          </a:prstGeom>
          <a:noFill/>
          <a:ln>
            <a:noFill/>
          </a:ln>
        </p:spPr>
      </p:pic>
      <p:sp>
        <p:nvSpPr>
          <p:cNvPr id="56" name="Google Shape;56;p13"/>
          <p:cNvSpPr/>
          <p:nvPr/>
        </p:nvSpPr>
        <p:spPr>
          <a:xfrm>
            <a:off x="394075" y="3377525"/>
            <a:ext cx="5392375" cy="1068326"/>
          </a:xfrm>
          <a:prstGeom prst="rect">
            <a:avLst/>
          </a:prstGeom>
        </p:spPr>
        <p:txBody>
          <a:bodyPr>
            <a:prstTxWarp prst="textPlain"/>
          </a:bodyPr>
          <a:lstStyle/>
          <a:p>
            <a:pPr lvl="0" algn="ctr"/>
            <a:r>
              <a:rPr b="1" i="0">
                <a:ln cap="flat" cmpd="sng" w="9525">
                  <a:solidFill>
                    <a:schemeClr val="lt1"/>
                  </a:solidFill>
                  <a:prstDash val="solid"/>
                  <a:round/>
                  <a:headEnd len="sm" w="sm" type="none"/>
                  <a:tailEnd len="sm" w="sm" type="none"/>
                </a:ln>
                <a:solidFill>
                  <a:srgbClr val="0B5394"/>
                </a:solidFill>
                <a:latin typeface="Amatic SC"/>
              </a:rPr>
              <a:t>Pasajes de Avión</a:t>
            </a:r>
          </a:p>
        </p:txBody>
      </p:sp>
      <p:sp>
        <p:nvSpPr>
          <p:cNvPr id="57" name="Google Shape;57;p13"/>
          <p:cNvSpPr txBox="1"/>
          <p:nvPr/>
        </p:nvSpPr>
        <p:spPr>
          <a:xfrm>
            <a:off x="547175" y="547175"/>
            <a:ext cx="5608500" cy="153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419" sz="1800">
                <a:solidFill>
                  <a:schemeClr val="dk2"/>
                </a:solidFill>
              </a:rPr>
              <a:t>Carrera: </a:t>
            </a:r>
            <a:r>
              <a:rPr b="1" lang="es-419" sz="1800">
                <a:solidFill>
                  <a:schemeClr val="dk2"/>
                </a:solidFill>
              </a:rPr>
              <a:t>Tecnicatura</a:t>
            </a:r>
            <a:r>
              <a:rPr b="1" lang="es-419" sz="1800">
                <a:solidFill>
                  <a:schemeClr val="dk2"/>
                </a:solidFill>
              </a:rPr>
              <a:t> Universitaria en Programación</a:t>
            </a:r>
            <a:endParaRPr b="1" sz="1800">
              <a:solidFill>
                <a:schemeClr val="dk2"/>
              </a:solidFill>
            </a:endParaRPr>
          </a:p>
          <a:p>
            <a:pPr indent="0" lvl="0" marL="0" rtl="0" algn="l">
              <a:spcBef>
                <a:spcPts val="0"/>
              </a:spcBef>
              <a:spcAft>
                <a:spcPts val="0"/>
              </a:spcAft>
              <a:buNone/>
            </a:pPr>
            <a:r>
              <a:rPr b="1" lang="es-419" sz="1800">
                <a:solidFill>
                  <a:schemeClr val="dk2"/>
                </a:solidFill>
              </a:rPr>
              <a:t>Materia: Estructura de datos</a:t>
            </a:r>
            <a:endParaRPr b="1" sz="1800">
              <a:solidFill>
                <a:schemeClr val="dk2"/>
              </a:solidFill>
            </a:endParaRPr>
          </a:p>
          <a:p>
            <a:pPr indent="0" lvl="0" marL="0" rtl="0" algn="l">
              <a:spcBef>
                <a:spcPts val="0"/>
              </a:spcBef>
              <a:spcAft>
                <a:spcPts val="0"/>
              </a:spcAft>
              <a:buNone/>
            </a:pPr>
            <a:r>
              <a:rPr b="1" lang="es-419" sz="1800">
                <a:solidFill>
                  <a:schemeClr val="dk2"/>
                </a:solidFill>
              </a:rPr>
              <a:t>Comisión: 5</a:t>
            </a:r>
            <a:endParaRPr b="1" sz="1800">
              <a:solidFill>
                <a:schemeClr val="dk2"/>
              </a:solidFill>
            </a:endParaRPr>
          </a:p>
          <a:p>
            <a:pPr indent="0" lvl="0" marL="0" rtl="0" algn="l">
              <a:spcBef>
                <a:spcPts val="0"/>
              </a:spcBef>
              <a:spcAft>
                <a:spcPts val="0"/>
              </a:spcAft>
              <a:buNone/>
            </a:pPr>
            <a:r>
              <a:rPr b="1" lang="es-419" sz="1800">
                <a:solidFill>
                  <a:schemeClr val="dk2"/>
                </a:solidFill>
              </a:rPr>
              <a:t>Docente: Felipe Morales</a:t>
            </a:r>
            <a:endParaRPr b="1" sz="1800">
              <a:solidFill>
                <a:schemeClr val="dk2"/>
              </a:solidFill>
            </a:endParaRPr>
          </a:p>
          <a:p>
            <a:pPr indent="0" lvl="0" marL="0" rtl="0" algn="l">
              <a:spcBef>
                <a:spcPts val="0"/>
              </a:spcBef>
              <a:spcAft>
                <a:spcPts val="0"/>
              </a:spcAft>
              <a:buNone/>
            </a:pPr>
            <a:r>
              <a:rPr b="1" lang="es-419" sz="1800">
                <a:solidFill>
                  <a:schemeClr val="dk2"/>
                </a:solidFill>
              </a:rPr>
              <a:t>Estudiantes: Igarzabal Valeria E. / Maximo Cruz</a:t>
            </a:r>
            <a:endParaRPr b="1" sz="1800">
              <a:solidFill>
                <a:schemeClr val="dk2"/>
              </a:solidFill>
            </a:endParaRPr>
          </a:p>
        </p:txBody>
      </p:sp>
      <p:sp>
        <p:nvSpPr>
          <p:cNvPr id="58" name="Google Shape;58;p13"/>
          <p:cNvSpPr txBox="1"/>
          <p:nvPr/>
        </p:nvSpPr>
        <p:spPr>
          <a:xfrm>
            <a:off x="725025" y="2325525"/>
            <a:ext cx="4883700" cy="68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419" sz="2100">
                <a:solidFill>
                  <a:schemeClr val="dk2"/>
                </a:solidFill>
              </a:rPr>
              <a:t>Trabajo </a:t>
            </a:r>
            <a:r>
              <a:rPr b="1" lang="es-419" sz="2100">
                <a:solidFill>
                  <a:schemeClr val="dk2"/>
                </a:solidFill>
              </a:rPr>
              <a:t>Práctico</a:t>
            </a:r>
            <a:r>
              <a:rPr b="1" lang="es-419" sz="2100">
                <a:solidFill>
                  <a:schemeClr val="dk2"/>
                </a:solidFill>
              </a:rPr>
              <a:t> Final:</a:t>
            </a:r>
            <a:endParaRPr b="1" sz="2100">
              <a:solidFill>
                <a:schemeClr val="dk2"/>
              </a:solidFill>
            </a:endParaRPr>
          </a:p>
          <a:p>
            <a:pPr indent="0" lvl="0" marL="0" rtl="0" algn="l">
              <a:spcBef>
                <a:spcPts val="0"/>
              </a:spcBef>
              <a:spcAft>
                <a:spcPts val="0"/>
              </a:spcAft>
              <a:buNone/>
            </a:pPr>
            <a:r>
              <a:rPr b="1" lang="es-419" sz="2100">
                <a:solidFill>
                  <a:schemeClr val="dk2"/>
                </a:solidFill>
              </a:rPr>
              <a:t>Tema: Gestión Integral de:</a:t>
            </a:r>
            <a:endParaRPr b="1" sz="2100">
              <a:solidFill>
                <a:schemeClr val="dk2"/>
              </a:solidFill>
            </a:endParaRPr>
          </a:p>
        </p:txBody>
      </p:sp>
      <p:pic>
        <p:nvPicPr>
          <p:cNvPr descr="Archivo:Airbus A320-200 Airbus Industries (AIB) &quot;House colors&quot; F ..." id="59" name="Google Shape;59;p13"/>
          <p:cNvPicPr preferRelativeResize="0"/>
          <p:nvPr/>
        </p:nvPicPr>
        <p:blipFill>
          <a:blip r:embed="rId5">
            <a:alphaModFix/>
          </a:blip>
          <a:stretch>
            <a:fillRect/>
          </a:stretch>
        </p:blipFill>
        <p:spPr>
          <a:xfrm>
            <a:off x="6155674" y="3171400"/>
            <a:ext cx="2548398" cy="1698500"/>
          </a:xfrm>
          <a:prstGeom prst="rect">
            <a:avLst/>
          </a:prstGeom>
          <a:noFill/>
          <a:ln>
            <a:noFill/>
          </a:ln>
          <a:effectLst>
            <a:outerShdw blurRad="57150" rotWithShape="0" algn="bl" dir="5400000" dist="19050">
              <a:srgbClr val="1155CC">
                <a:alpha val="95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14"/>
          <p:cNvSpPr txBox="1"/>
          <p:nvPr>
            <p:ph type="title"/>
          </p:nvPr>
        </p:nvSpPr>
        <p:spPr>
          <a:xfrm>
            <a:off x="2582500" y="379100"/>
            <a:ext cx="2766300" cy="773400"/>
          </a:xfrm>
          <a:prstGeom prst="rect">
            <a:avLst/>
          </a:prstGeom>
          <a:ln cap="flat" cmpd="sng" w="9525">
            <a:solidFill>
              <a:srgbClr val="1C4587"/>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SzPts val="990"/>
              <a:buNone/>
            </a:pPr>
            <a:r>
              <a:rPr b="1" lang="es-419" sz="4020">
                <a:solidFill>
                  <a:srgbClr val="1C4587"/>
                </a:solidFill>
                <a:latin typeface="Amatic SC"/>
                <a:ea typeface="Amatic SC"/>
                <a:cs typeface="Amatic SC"/>
                <a:sym typeface="Amatic SC"/>
              </a:rPr>
              <a:t>Encapsulamiento</a:t>
            </a:r>
            <a:r>
              <a:rPr b="1" lang="es-419" sz="4020">
                <a:latin typeface="Amatic SC"/>
                <a:ea typeface="Amatic SC"/>
                <a:cs typeface="Amatic SC"/>
                <a:sym typeface="Amatic SC"/>
              </a:rPr>
              <a:t>:</a:t>
            </a:r>
            <a:endParaRPr b="1" sz="4020">
              <a:latin typeface="Amatic SC"/>
              <a:ea typeface="Amatic SC"/>
              <a:cs typeface="Amatic SC"/>
              <a:sym typeface="Amatic SC"/>
            </a:endParaRPr>
          </a:p>
        </p:txBody>
      </p:sp>
      <p:sp>
        <p:nvSpPr>
          <p:cNvPr id="65" name="Google Shape;65;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b="1" lang="es-419" sz="2500">
                <a:solidFill>
                  <a:srgbClr val="0B5394"/>
                </a:solidFill>
                <a:latin typeface="Amatic SC"/>
                <a:ea typeface="Amatic SC"/>
                <a:cs typeface="Amatic SC"/>
                <a:sym typeface="Amatic SC"/>
              </a:rPr>
              <a:t>El encapsulamiento consiste en agrupar datos (atributos) y métodos (comportamiento) que operan sobre esos datos en una sola unidad conocida como “clase”.</a:t>
            </a:r>
            <a:endParaRPr b="1" sz="2500">
              <a:solidFill>
                <a:srgbClr val="0B5394"/>
              </a:solidFill>
              <a:latin typeface="Amatic SC"/>
              <a:ea typeface="Amatic SC"/>
              <a:cs typeface="Amatic SC"/>
              <a:sym typeface="Amatic SC"/>
            </a:endParaRPr>
          </a:p>
          <a:p>
            <a:pPr indent="0" lvl="0" marL="0" rtl="0" algn="l">
              <a:spcBef>
                <a:spcPts val="1200"/>
              </a:spcBef>
              <a:spcAft>
                <a:spcPts val="0"/>
              </a:spcAft>
              <a:buNone/>
            </a:pPr>
            <a:r>
              <a:rPr b="1" lang="es-419">
                <a:latin typeface="Amatic SC"/>
                <a:ea typeface="Amatic SC"/>
                <a:cs typeface="Amatic SC"/>
                <a:sym typeface="Amatic SC"/>
              </a:rPr>
              <a:t>características</a:t>
            </a:r>
            <a:r>
              <a:rPr b="1" lang="es-419">
                <a:latin typeface="Amatic SC"/>
                <a:ea typeface="Amatic SC"/>
                <a:cs typeface="Amatic SC"/>
                <a:sym typeface="Amatic SC"/>
              </a:rPr>
              <a:t> clave:</a:t>
            </a:r>
            <a:endParaRPr b="1">
              <a:latin typeface="Amatic SC"/>
              <a:ea typeface="Amatic SC"/>
              <a:cs typeface="Amatic SC"/>
              <a:sym typeface="Amatic SC"/>
            </a:endParaRPr>
          </a:p>
          <a:p>
            <a:pPr indent="0" lvl="0" marL="0" rtl="0" algn="l">
              <a:spcBef>
                <a:spcPts val="1200"/>
              </a:spcBef>
              <a:spcAft>
                <a:spcPts val="0"/>
              </a:spcAft>
              <a:buNone/>
            </a:pPr>
            <a:r>
              <a:rPr b="1" lang="es-419">
                <a:latin typeface="Amatic SC"/>
                <a:ea typeface="Amatic SC"/>
                <a:cs typeface="Amatic SC"/>
                <a:sym typeface="Amatic SC"/>
              </a:rPr>
              <a:t>ocultamiento de información: restringe el acceso directo a los datos internos de un objeto, solo los métodos de la propia clase tienen acceso para modificar sus atributos.</a:t>
            </a:r>
            <a:endParaRPr b="1">
              <a:latin typeface="Amatic SC"/>
              <a:ea typeface="Amatic SC"/>
              <a:cs typeface="Amatic SC"/>
              <a:sym typeface="Amatic SC"/>
            </a:endParaRPr>
          </a:p>
          <a:p>
            <a:pPr indent="0" lvl="0" marL="0" rtl="0" algn="l">
              <a:spcBef>
                <a:spcPts val="1200"/>
              </a:spcBef>
              <a:spcAft>
                <a:spcPts val="0"/>
              </a:spcAft>
              <a:buNone/>
            </a:pPr>
            <a:r>
              <a:rPr b="1" lang="es-419">
                <a:latin typeface="Amatic SC"/>
                <a:ea typeface="Amatic SC"/>
                <a:cs typeface="Amatic SC"/>
                <a:sym typeface="Amatic SC"/>
              </a:rPr>
              <a:t>interfaz pública que incluye métodos específicos que otras clases pueden utilizar para interactuar con los datos de forma controlada y segura.</a:t>
            </a:r>
            <a:endParaRPr b="1">
              <a:latin typeface="Amatic SC"/>
              <a:ea typeface="Amatic SC"/>
              <a:cs typeface="Amatic SC"/>
              <a:sym typeface="Amatic SC"/>
            </a:endParaRPr>
          </a:p>
          <a:p>
            <a:pPr indent="0" lvl="0" marL="0" rtl="0" algn="l">
              <a:spcBef>
                <a:spcPts val="1200"/>
              </a:spcBef>
              <a:spcAft>
                <a:spcPts val="0"/>
              </a:spcAft>
              <a:buNone/>
            </a:pPr>
            <a:r>
              <a:rPr b="1" lang="es-419">
                <a:latin typeface="Amatic SC"/>
                <a:ea typeface="Amatic SC"/>
                <a:cs typeface="Amatic SC"/>
                <a:sym typeface="Amatic SC"/>
              </a:rPr>
              <a:t>seguridad: al ocultar los datos, se evita que sean modificados por un código externo de forma inesperada o no autorizada.</a:t>
            </a:r>
            <a:endParaRPr b="1">
              <a:latin typeface="Amatic SC"/>
              <a:ea typeface="Amatic SC"/>
              <a:cs typeface="Amatic SC"/>
              <a:sym typeface="Amatic SC"/>
            </a:endParaRPr>
          </a:p>
          <a:p>
            <a:pPr indent="0" lvl="0" marL="0" rtl="0" algn="l">
              <a:spcBef>
                <a:spcPts val="1200"/>
              </a:spcBef>
              <a:spcAft>
                <a:spcPts val="0"/>
              </a:spcAft>
              <a:buNone/>
            </a:pPr>
            <a:r>
              <a:rPr b="1" lang="es-419">
                <a:latin typeface="Amatic SC"/>
                <a:ea typeface="Amatic SC"/>
                <a:cs typeface="Amatic SC"/>
                <a:sym typeface="Amatic SC"/>
              </a:rPr>
              <a:t>modularidad: permite que los desarrolladores trabajen en distintas partes del código de forma independiente.</a:t>
            </a:r>
            <a:endParaRPr b="1">
              <a:latin typeface="Amatic SC"/>
              <a:ea typeface="Amatic SC"/>
              <a:cs typeface="Amatic SC"/>
              <a:sym typeface="Amatic SC"/>
            </a:endParaRPr>
          </a:p>
          <a:p>
            <a:pPr indent="0" lvl="0" marL="0" rtl="0" algn="l">
              <a:spcBef>
                <a:spcPts val="1200"/>
              </a:spcBef>
              <a:spcAft>
                <a:spcPts val="1200"/>
              </a:spcAft>
              <a:buNone/>
            </a:pPr>
            <a:r>
              <a:rPr b="1" lang="es-419">
                <a:latin typeface="Amatic SC"/>
                <a:ea typeface="Amatic SC"/>
                <a:cs typeface="Amatic SC"/>
                <a:sym typeface="Amatic SC"/>
              </a:rPr>
              <a:t>flexibilidad: el encapsulamiento hace que el código sea más flexible y reutilizable. </a:t>
            </a:r>
            <a:endParaRPr b="1">
              <a:latin typeface="Amatic SC"/>
              <a:ea typeface="Amatic SC"/>
              <a:cs typeface="Amatic SC"/>
              <a:sym typeface="Amatic SC"/>
            </a:endParaRPr>
          </a:p>
        </p:txBody>
      </p:sp>
      <p:pic>
        <p:nvPicPr>
          <p:cNvPr id="66" name="Google Shape;66;p14" title="logo unab.png"/>
          <p:cNvPicPr preferRelativeResize="0"/>
          <p:nvPr/>
        </p:nvPicPr>
        <p:blipFill>
          <a:blip r:embed="rId3">
            <a:alphaModFix/>
          </a:blip>
          <a:stretch>
            <a:fillRect/>
          </a:stretch>
        </p:blipFill>
        <p:spPr>
          <a:xfrm>
            <a:off x="6981637" y="145725"/>
            <a:ext cx="1850663" cy="10067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5"/>
          <p:cNvSpPr txBox="1"/>
          <p:nvPr>
            <p:ph type="title"/>
          </p:nvPr>
        </p:nvSpPr>
        <p:spPr>
          <a:xfrm>
            <a:off x="311700" y="3219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s-419" u="sng">
                <a:solidFill>
                  <a:srgbClr val="1C4587"/>
                </a:solidFill>
                <a:latin typeface="Amatic SC"/>
                <a:ea typeface="Amatic SC"/>
                <a:cs typeface="Amatic SC"/>
                <a:sym typeface="Amatic SC"/>
              </a:rPr>
              <a:t>Modelamos las clases con sus atributos y métodos:</a:t>
            </a:r>
            <a:endParaRPr b="1" u="sng">
              <a:solidFill>
                <a:srgbClr val="1C4587"/>
              </a:solidFill>
              <a:latin typeface="Amatic SC"/>
              <a:ea typeface="Amatic SC"/>
              <a:cs typeface="Amatic SC"/>
              <a:sym typeface="Amatic SC"/>
            </a:endParaRPr>
          </a:p>
        </p:txBody>
      </p:sp>
      <p:sp>
        <p:nvSpPr>
          <p:cNvPr id="72" name="Google Shape;72;p15"/>
          <p:cNvSpPr txBox="1"/>
          <p:nvPr>
            <p:ph idx="1" type="body"/>
          </p:nvPr>
        </p:nvSpPr>
        <p:spPr>
          <a:xfrm>
            <a:off x="311700" y="1152475"/>
            <a:ext cx="3901500" cy="3416400"/>
          </a:xfrm>
          <a:prstGeom prst="rect">
            <a:avLst/>
          </a:prstGeom>
        </p:spPr>
        <p:txBody>
          <a:bodyPr anchorCtr="0" anchor="t" bIns="91425" lIns="91425" spcFirstLastPara="1" rIns="91425" wrap="square" tIns="91425">
            <a:normAutofit fontScale="70000" lnSpcReduction="10000"/>
          </a:bodyPr>
          <a:lstStyle/>
          <a:p>
            <a:pPr indent="0" lvl="0" marL="0" rtl="0" algn="l">
              <a:spcBef>
                <a:spcPts val="0"/>
              </a:spcBef>
              <a:spcAft>
                <a:spcPts val="0"/>
              </a:spcAft>
              <a:buNone/>
            </a:pPr>
            <a:r>
              <a:rPr b="1" lang="es-419" sz="2321">
                <a:solidFill>
                  <a:srgbClr val="1C4587"/>
                </a:solidFill>
                <a:latin typeface="Amatic SC"/>
                <a:ea typeface="Amatic SC"/>
                <a:cs typeface="Amatic SC"/>
                <a:sym typeface="Amatic SC"/>
              </a:rPr>
              <a:t>Class Equipaje:</a:t>
            </a:r>
            <a:endParaRPr b="1" sz="2321">
              <a:solidFill>
                <a:srgbClr val="1C4587"/>
              </a:solidFill>
              <a:latin typeface="Amatic SC"/>
              <a:ea typeface="Amatic SC"/>
              <a:cs typeface="Amatic SC"/>
              <a:sym typeface="Amatic SC"/>
            </a:endParaRPr>
          </a:p>
          <a:p>
            <a:pPr indent="0" lvl="0" marL="0" rtl="0" algn="l">
              <a:spcBef>
                <a:spcPts val="1200"/>
              </a:spcBef>
              <a:spcAft>
                <a:spcPts val="0"/>
              </a:spcAft>
              <a:buNone/>
            </a:pPr>
            <a:r>
              <a:rPr b="1" lang="es-419" sz="2321">
                <a:solidFill>
                  <a:srgbClr val="1C4587"/>
                </a:solidFill>
                <a:latin typeface="Amatic SC"/>
                <a:ea typeface="Amatic SC"/>
                <a:cs typeface="Amatic SC"/>
                <a:sym typeface="Amatic SC"/>
              </a:rPr>
              <a:t>       def __init__(self, descripción, peso):</a:t>
            </a:r>
            <a:endParaRPr b="1" sz="2321">
              <a:solidFill>
                <a:srgbClr val="1C4587"/>
              </a:solidFill>
              <a:latin typeface="Amatic SC"/>
              <a:ea typeface="Amatic SC"/>
              <a:cs typeface="Amatic SC"/>
              <a:sym typeface="Amatic SC"/>
            </a:endParaRPr>
          </a:p>
          <a:p>
            <a:pPr indent="0" lvl="0" marL="0" rtl="0" algn="l">
              <a:spcBef>
                <a:spcPts val="1200"/>
              </a:spcBef>
              <a:spcAft>
                <a:spcPts val="0"/>
              </a:spcAft>
              <a:buNone/>
            </a:pPr>
            <a:r>
              <a:rPr b="1" lang="es-419" sz="2321">
                <a:solidFill>
                  <a:srgbClr val="1C4587"/>
                </a:solidFill>
                <a:latin typeface="Amatic SC"/>
                <a:ea typeface="Amatic SC"/>
                <a:cs typeface="Amatic SC"/>
                <a:sym typeface="Amatic SC"/>
              </a:rPr>
              <a:t>            self.descripcion = descripcion</a:t>
            </a:r>
            <a:endParaRPr b="1" sz="2321">
              <a:solidFill>
                <a:srgbClr val="1C4587"/>
              </a:solidFill>
              <a:latin typeface="Amatic SC"/>
              <a:ea typeface="Amatic SC"/>
              <a:cs typeface="Amatic SC"/>
              <a:sym typeface="Amatic SC"/>
            </a:endParaRPr>
          </a:p>
          <a:p>
            <a:pPr indent="0" lvl="0" marL="0" rtl="0" algn="l">
              <a:spcBef>
                <a:spcPts val="1200"/>
              </a:spcBef>
              <a:spcAft>
                <a:spcPts val="0"/>
              </a:spcAft>
              <a:buNone/>
            </a:pPr>
            <a:r>
              <a:rPr b="1" lang="es-419" sz="2321">
                <a:solidFill>
                  <a:srgbClr val="1C4587"/>
                </a:solidFill>
                <a:latin typeface="Amatic SC"/>
                <a:ea typeface="Amatic SC"/>
                <a:cs typeface="Amatic SC"/>
                <a:sym typeface="Amatic SC"/>
              </a:rPr>
              <a:t>            self. peso = peso</a:t>
            </a:r>
            <a:endParaRPr b="1" sz="2321">
              <a:solidFill>
                <a:srgbClr val="1C4587"/>
              </a:solidFill>
              <a:latin typeface="Amatic SC"/>
              <a:ea typeface="Amatic SC"/>
              <a:cs typeface="Amatic SC"/>
              <a:sym typeface="Amatic SC"/>
            </a:endParaRPr>
          </a:p>
          <a:p>
            <a:pPr indent="0" lvl="0" marL="0" rtl="0" algn="l">
              <a:spcBef>
                <a:spcPts val="1200"/>
              </a:spcBef>
              <a:spcAft>
                <a:spcPts val="0"/>
              </a:spcAft>
              <a:buNone/>
            </a:pPr>
            <a:r>
              <a:rPr b="1" lang="es-419" sz="2321">
                <a:solidFill>
                  <a:srgbClr val="1C4587"/>
                </a:solidFill>
                <a:latin typeface="Amatic SC"/>
                <a:ea typeface="Amatic SC"/>
                <a:cs typeface="Amatic SC"/>
                <a:sym typeface="Amatic SC"/>
              </a:rPr>
              <a:t>     </a:t>
            </a:r>
            <a:r>
              <a:rPr b="1" lang="es-419" sz="2321">
                <a:solidFill>
                  <a:srgbClr val="FF0000"/>
                </a:solidFill>
                <a:latin typeface="Amatic SC"/>
                <a:ea typeface="Amatic SC"/>
                <a:cs typeface="Amatic SC"/>
                <a:sym typeface="Amatic SC"/>
              </a:rPr>
              <a:t>  def __str__(self):</a:t>
            </a:r>
            <a:endParaRPr b="1" sz="2321">
              <a:solidFill>
                <a:srgbClr val="FF0000"/>
              </a:solidFill>
              <a:latin typeface="Amatic SC"/>
              <a:ea typeface="Amatic SC"/>
              <a:cs typeface="Amatic SC"/>
              <a:sym typeface="Amatic SC"/>
            </a:endParaRPr>
          </a:p>
          <a:p>
            <a:pPr indent="0" lvl="0" marL="0" rtl="0" algn="l">
              <a:spcBef>
                <a:spcPts val="1200"/>
              </a:spcBef>
              <a:spcAft>
                <a:spcPts val="0"/>
              </a:spcAft>
              <a:buNone/>
            </a:pPr>
            <a:r>
              <a:rPr b="1" lang="es-419" sz="2321">
                <a:solidFill>
                  <a:srgbClr val="FF0000"/>
                </a:solidFill>
                <a:latin typeface="Amatic SC"/>
                <a:ea typeface="Amatic SC"/>
                <a:cs typeface="Amatic SC"/>
                <a:sym typeface="Amatic SC"/>
              </a:rPr>
              <a:t>       </a:t>
            </a:r>
            <a:r>
              <a:rPr b="1" lang="es-419" sz="2321">
                <a:solidFill>
                  <a:srgbClr val="FF0000"/>
                </a:solidFill>
                <a:highlight>
                  <a:srgbClr val="FFFFFF"/>
                </a:highlight>
                <a:latin typeface="Amatic SC"/>
                <a:ea typeface="Amatic SC"/>
                <a:cs typeface="Amatic SC"/>
                <a:sym typeface="Amatic SC"/>
              </a:rPr>
              <a:t> return self.descripcion + " " + str(self.peso) + "kg"</a:t>
            </a:r>
            <a:endParaRPr b="1" sz="2321">
              <a:solidFill>
                <a:srgbClr val="FF0000"/>
              </a:solidFill>
              <a:highlight>
                <a:srgbClr val="FFFFFF"/>
              </a:highlight>
              <a:latin typeface="Amatic SC"/>
              <a:ea typeface="Amatic SC"/>
              <a:cs typeface="Amatic SC"/>
              <a:sym typeface="Amatic SC"/>
            </a:endParaRPr>
          </a:p>
          <a:p>
            <a:pPr indent="0" lvl="0" marL="0" rtl="0" algn="l">
              <a:lnSpc>
                <a:spcPct val="135714"/>
              </a:lnSpc>
              <a:spcBef>
                <a:spcPts val="1200"/>
              </a:spcBef>
              <a:spcAft>
                <a:spcPts val="0"/>
              </a:spcAft>
              <a:buClr>
                <a:schemeClr val="dk1"/>
              </a:buClr>
              <a:buSzPct val="104761"/>
              <a:buFont typeface="Arial"/>
              <a:buNone/>
            </a:pPr>
            <a:r>
              <a:t/>
            </a:r>
            <a:endParaRPr sz="1050">
              <a:solidFill>
                <a:schemeClr val="dk1"/>
              </a:solidFill>
              <a:highlight>
                <a:srgbClr val="FFFFFF"/>
              </a:highlight>
              <a:latin typeface="Courier New"/>
              <a:ea typeface="Courier New"/>
              <a:cs typeface="Courier New"/>
              <a:sym typeface="Courier New"/>
            </a:endParaRPr>
          </a:p>
          <a:p>
            <a:pPr indent="0" lvl="0" marL="0" rtl="0" algn="l">
              <a:spcBef>
                <a:spcPts val="0"/>
              </a:spcBef>
              <a:spcAft>
                <a:spcPts val="0"/>
              </a:spcAft>
              <a:buNone/>
            </a:pPr>
            <a:r>
              <a:t/>
            </a:r>
            <a:endParaRPr b="1" sz="2000">
              <a:solidFill>
                <a:srgbClr val="1C4587"/>
              </a:solidFill>
              <a:latin typeface="Amatic SC"/>
              <a:ea typeface="Amatic SC"/>
              <a:cs typeface="Amatic SC"/>
              <a:sym typeface="Amatic SC"/>
            </a:endParaRPr>
          </a:p>
          <a:p>
            <a:pPr indent="0" lvl="0" marL="0" rtl="0" algn="l">
              <a:spcBef>
                <a:spcPts val="1200"/>
              </a:spcBef>
              <a:spcAft>
                <a:spcPts val="1200"/>
              </a:spcAft>
              <a:buNone/>
            </a:pPr>
            <a:r>
              <a:t/>
            </a:r>
            <a:endParaRPr>
              <a:solidFill>
                <a:srgbClr val="1C4587"/>
              </a:solidFill>
              <a:latin typeface="Amatic SC"/>
              <a:ea typeface="Amatic SC"/>
              <a:cs typeface="Amatic SC"/>
              <a:sym typeface="Amatic SC"/>
            </a:endParaRPr>
          </a:p>
        </p:txBody>
      </p:sp>
      <p:sp>
        <p:nvSpPr>
          <p:cNvPr id="73" name="Google Shape;73;p15"/>
          <p:cNvSpPr txBox="1"/>
          <p:nvPr/>
        </p:nvSpPr>
        <p:spPr>
          <a:xfrm>
            <a:off x="4746800" y="766075"/>
            <a:ext cx="3748200" cy="380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419" sz="2200">
                <a:solidFill>
                  <a:srgbClr val="073763"/>
                </a:solidFill>
                <a:latin typeface="Amatic SC"/>
                <a:ea typeface="Amatic SC"/>
                <a:cs typeface="Amatic SC"/>
                <a:sym typeface="Amatic SC"/>
              </a:rPr>
              <a:t>El equipaje es un elemento que forma parte de una lista de elementos (equipajes), que luego se cargará (mediante un método) al equipaje del pasajero. Es por este motivo que lo vamos a modelar antes que pasajero.</a:t>
            </a:r>
            <a:endParaRPr b="1" sz="2200">
              <a:solidFill>
                <a:srgbClr val="073763"/>
              </a:solidFill>
              <a:latin typeface="Amatic SC"/>
              <a:ea typeface="Amatic SC"/>
              <a:cs typeface="Amatic SC"/>
              <a:sym typeface="Amatic SC"/>
            </a:endParaRPr>
          </a:p>
          <a:p>
            <a:pPr indent="0" lvl="0" marL="0" rtl="0" algn="l">
              <a:lnSpc>
                <a:spcPct val="115000"/>
              </a:lnSpc>
              <a:spcBef>
                <a:spcPts val="0"/>
              </a:spcBef>
              <a:spcAft>
                <a:spcPts val="0"/>
              </a:spcAft>
              <a:buClr>
                <a:schemeClr val="dk1"/>
              </a:buClr>
              <a:buSzPts val="1100"/>
              <a:buFont typeface="Arial"/>
              <a:buNone/>
            </a:pPr>
            <a:r>
              <a:rPr b="1" lang="es-419" sz="2200">
                <a:solidFill>
                  <a:srgbClr val="073763"/>
                </a:solidFill>
                <a:latin typeface="Amatic SC"/>
                <a:ea typeface="Amatic SC"/>
                <a:cs typeface="Amatic SC"/>
                <a:sym typeface="Amatic SC"/>
              </a:rPr>
              <a:t>Usamos el método “__str__” para definir la representación en cadena (string) “informal” o “legible para humanos” de un objeto (Equipaje). Se llama automáticamente cuando invocas mediante un “print()” sobre el objeto.</a:t>
            </a:r>
            <a:endParaRPr b="1" sz="2200">
              <a:solidFill>
                <a:srgbClr val="073763"/>
              </a:solidFill>
              <a:latin typeface="Amatic SC"/>
              <a:ea typeface="Amatic SC"/>
              <a:cs typeface="Amatic SC"/>
              <a:sym typeface="Amatic SC"/>
            </a:endParaRPr>
          </a:p>
        </p:txBody>
      </p:sp>
      <p:pic>
        <p:nvPicPr>
          <p:cNvPr id="74" name="Google Shape;74;p15" title="logo unab.png"/>
          <p:cNvPicPr preferRelativeResize="0"/>
          <p:nvPr/>
        </p:nvPicPr>
        <p:blipFill>
          <a:blip r:embed="rId3">
            <a:alphaModFix/>
          </a:blip>
          <a:stretch>
            <a:fillRect/>
          </a:stretch>
        </p:blipFill>
        <p:spPr>
          <a:xfrm>
            <a:off x="7360147" y="0"/>
            <a:ext cx="1644527" cy="8946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6"/>
          <p:cNvSpPr txBox="1"/>
          <p:nvPr>
            <p:ph idx="1" type="body"/>
          </p:nvPr>
        </p:nvSpPr>
        <p:spPr>
          <a:xfrm>
            <a:off x="311700" y="1152475"/>
            <a:ext cx="4503600" cy="3416400"/>
          </a:xfrm>
          <a:prstGeom prst="rect">
            <a:avLst/>
          </a:prstGeom>
        </p:spPr>
        <p:txBody>
          <a:bodyPr anchorCtr="0" anchor="t" bIns="91425" lIns="91425" spcFirstLastPara="1" rIns="91425" wrap="square" tIns="91425">
            <a:normAutofit/>
          </a:bodyPr>
          <a:lstStyle/>
          <a:p>
            <a:pPr indent="0" lvl="0" marL="0" rtl="0" algn="l">
              <a:lnSpc>
                <a:spcPct val="105000"/>
              </a:lnSpc>
              <a:spcBef>
                <a:spcPts val="0"/>
              </a:spcBef>
              <a:spcAft>
                <a:spcPts val="0"/>
              </a:spcAft>
              <a:buNone/>
            </a:pPr>
            <a:r>
              <a:rPr b="1" lang="es-419">
                <a:solidFill>
                  <a:srgbClr val="1C4587"/>
                </a:solidFill>
                <a:latin typeface="Amatic SC"/>
                <a:ea typeface="Amatic SC"/>
                <a:cs typeface="Amatic SC"/>
                <a:sym typeface="Amatic SC"/>
              </a:rPr>
              <a:t>Class pasajero:</a:t>
            </a:r>
            <a:endParaRPr b="1">
              <a:solidFill>
                <a:srgbClr val="1C4587"/>
              </a:solidFill>
              <a:latin typeface="Amatic SC"/>
              <a:ea typeface="Amatic SC"/>
              <a:cs typeface="Amatic SC"/>
              <a:sym typeface="Amatic SC"/>
            </a:endParaRPr>
          </a:p>
          <a:p>
            <a:pPr indent="0" lvl="0" marL="0" rtl="0" algn="l">
              <a:lnSpc>
                <a:spcPct val="105000"/>
              </a:lnSpc>
              <a:spcBef>
                <a:spcPts val="1200"/>
              </a:spcBef>
              <a:spcAft>
                <a:spcPts val="0"/>
              </a:spcAft>
              <a:buNone/>
            </a:pPr>
            <a:r>
              <a:rPr b="1" lang="es-419">
                <a:solidFill>
                  <a:srgbClr val="1C4587"/>
                </a:solidFill>
                <a:latin typeface="Amatic SC"/>
                <a:ea typeface="Amatic SC"/>
                <a:cs typeface="Amatic SC"/>
                <a:sym typeface="Amatic SC"/>
              </a:rPr>
              <a:t>        </a:t>
            </a:r>
            <a:r>
              <a:rPr b="1" lang="es-419">
                <a:solidFill>
                  <a:srgbClr val="1C4587"/>
                </a:solidFill>
                <a:latin typeface="Amatic SC"/>
                <a:ea typeface="Amatic SC"/>
                <a:cs typeface="Amatic SC"/>
                <a:sym typeface="Amatic SC"/>
              </a:rPr>
              <a:t>def __init__</a:t>
            </a:r>
            <a:r>
              <a:rPr b="1" lang="es-419">
                <a:solidFill>
                  <a:srgbClr val="1C4587"/>
                </a:solidFill>
                <a:latin typeface="Amatic SC"/>
                <a:ea typeface="Amatic SC"/>
                <a:cs typeface="Amatic SC"/>
                <a:sym typeface="Amatic SC"/>
              </a:rPr>
              <a:t>(self, nombre, documento, nacionalidad):</a:t>
            </a:r>
            <a:endParaRPr b="1">
              <a:solidFill>
                <a:srgbClr val="1C4587"/>
              </a:solidFill>
              <a:latin typeface="Amatic SC"/>
              <a:ea typeface="Amatic SC"/>
              <a:cs typeface="Amatic SC"/>
              <a:sym typeface="Amatic SC"/>
            </a:endParaRPr>
          </a:p>
          <a:p>
            <a:pPr indent="0" lvl="0" marL="0" rtl="0" algn="l">
              <a:lnSpc>
                <a:spcPct val="105000"/>
              </a:lnSpc>
              <a:spcBef>
                <a:spcPts val="1200"/>
              </a:spcBef>
              <a:spcAft>
                <a:spcPts val="0"/>
              </a:spcAft>
              <a:buNone/>
            </a:pPr>
            <a:r>
              <a:rPr b="1" lang="es-419">
                <a:solidFill>
                  <a:srgbClr val="1C4587"/>
                </a:solidFill>
                <a:latin typeface="Amatic SC"/>
                <a:ea typeface="Amatic SC"/>
                <a:cs typeface="Amatic SC"/>
                <a:sym typeface="Amatic SC"/>
              </a:rPr>
              <a:t>             self.nombre = nombre</a:t>
            </a:r>
            <a:endParaRPr b="1">
              <a:solidFill>
                <a:srgbClr val="1C4587"/>
              </a:solidFill>
              <a:latin typeface="Amatic SC"/>
              <a:ea typeface="Amatic SC"/>
              <a:cs typeface="Amatic SC"/>
              <a:sym typeface="Amatic SC"/>
            </a:endParaRPr>
          </a:p>
          <a:p>
            <a:pPr indent="0" lvl="0" marL="0" rtl="0" algn="l">
              <a:lnSpc>
                <a:spcPct val="105000"/>
              </a:lnSpc>
              <a:spcBef>
                <a:spcPts val="1200"/>
              </a:spcBef>
              <a:spcAft>
                <a:spcPts val="0"/>
              </a:spcAft>
              <a:buNone/>
            </a:pPr>
            <a:r>
              <a:rPr b="1" lang="es-419">
                <a:solidFill>
                  <a:srgbClr val="1C4587"/>
                </a:solidFill>
                <a:latin typeface="Amatic SC"/>
                <a:ea typeface="Amatic SC"/>
                <a:cs typeface="Amatic SC"/>
                <a:sym typeface="Amatic SC"/>
              </a:rPr>
              <a:t>             self. documento = documento</a:t>
            </a:r>
            <a:endParaRPr b="1">
              <a:solidFill>
                <a:srgbClr val="1C4587"/>
              </a:solidFill>
              <a:latin typeface="Amatic SC"/>
              <a:ea typeface="Amatic SC"/>
              <a:cs typeface="Amatic SC"/>
              <a:sym typeface="Amatic SC"/>
            </a:endParaRPr>
          </a:p>
          <a:p>
            <a:pPr indent="0" lvl="0" marL="0" rtl="0" algn="l">
              <a:lnSpc>
                <a:spcPct val="105000"/>
              </a:lnSpc>
              <a:spcBef>
                <a:spcPts val="1200"/>
              </a:spcBef>
              <a:spcAft>
                <a:spcPts val="0"/>
              </a:spcAft>
              <a:buNone/>
            </a:pPr>
            <a:r>
              <a:rPr b="1" lang="es-419">
                <a:solidFill>
                  <a:srgbClr val="1C4587"/>
                </a:solidFill>
                <a:latin typeface="Amatic SC"/>
                <a:ea typeface="Amatic SC"/>
                <a:cs typeface="Amatic SC"/>
                <a:sym typeface="Amatic SC"/>
              </a:rPr>
              <a:t>             self. nacionalidad = nacionalidad</a:t>
            </a:r>
            <a:endParaRPr b="1">
              <a:solidFill>
                <a:srgbClr val="1C4587"/>
              </a:solidFill>
              <a:latin typeface="Amatic SC"/>
              <a:ea typeface="Amatic SC"/>
              <a:cs typeface="Amatic SC"/>
              <a:sym typeface="Amatic SC"/>
            </a:endParaRPr>
          </a:p>
          <a:p>
            <a:pPr indent="0" lvl="0" marL="0" rtl="0" algn="l">
              <a:lnSpc>
                <a:spcPct val="105000"/>
              </a:lnSpc>
              <a:spcBef>
                <a:spcPts val="1200"/>
              </a:spcBef>
              <a:spcAft>
                <a:spcPts val="0"/>
              </a:spcAft>
              <a:buNone/>
            </a:pPr>
            <a:r>
              <a:rPr b="1" lang="es-419">
                <a:solidFill>
                  <a:srgbClr val="1C4587"/>
                </a:solidFill>
                <a:latin typeface="Amatic SC"/>
                <a:ea typeface="Amatic SC"/>
                <a:cs typeface="Amatic SC"/>
                <a:sym typeface="Amatic SC"/>
              </a:rPr>
              <a:t>            self. equipajes = []</a:t>
            </a:r>
            <a:endParaRPr b="1">
              <a:solidFill>
                <a:srgbClr val="1C4587"/>
              </a:solidFill>
              <a:latin typeface="Amatic SC"/>
              <a:ea typeface="Amatic SC"/>
              <a:cs typeface="Amatic SC"/>
              <a:sym typeface="Amatic SC"/>
            </a:endParaRPr>
          </a:p>
          <a:p>
            <a:pPr indent="0" lvl="0" marL="0" rtl="0" algn="l">
              <a:lnSpc>
                <a:spcPct val="105000"/>
              </a:lnSpc>
              <a:spcBef>
                <a:spcPts val="1200"/>
              </a:spcBef>
              <a:spcAft>
                <a:spcPts val="1200"/>
              </a:spcAft>
              <a:buNone/>
            </a:pPr>
            <a:r>
              <a:rPr b="1" lang="es-419">
                <a:solidFill>
                  <a:srgbClr val="1C4587"/>
                </a:solidFill>
                <a:latin typeface="Amatic SC"/>
                <a:ea typeface="Amatic SC"/>
                <a:cs typeface="Amatic SC"/>
                <a:sym typeface="Amatic SC"/>
              </a:rPr>
              <a:t>           self. historial_de_vuelo: []</a:t>
            </a:r>
            <a:endParaRPr b="1">
              <a:solidFill>
                <a:srgbClr val="1C4587"/>
              </a:solidFill>
              <a:latin typeface="Amatic SC"/>
              <a:ea typeface="Amatic SC"/>
              <a:cs typeface="Amatic SC"/>
              <a:sym typeface="Amatic SC"/>
            </a:endParaRPr>
          </a:p>
        </p:txBody>
      </p:sp>
      <p:sp>
        <p:nvSpPr>
          <p:cNvPr id="80" name="Google Shape;80;p16"/>
          <p:cNvSpPr txBox="1"/>
          <p:nvPr>
            <p:ph type="title"/>
          </p:nvPr>
        </p:nvSpPr>
        <p:spPr>
          <a:xfrm>
            <a:off x="311700" y="3219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s-419" u="sng">
                <a:solidFill>
                  <a:srgbClr val="1C4587"/>
                </a:solidFill>
                <a:latin typeface="Amatic SC"/>
                <a:ea typeface="Amatic SC"/>
                <a:cs typeface="Amatic SC"/>
                <a:sym typeface="Amatic SC"/>
              </a:rPr>
              <a:t>Modelamos las clases con sus atributos y métodos:</a:t>
            </a:r>
            <a:endParaRPr b="1" u="sng">
              <a:solidFill>
                <a:srgbClr val="1C4587"/>
              </a:solidFill>
              <a:latin typeface="Amatic SC"/>
              <a:ea typeface="Amatic SC"/>
              <a:cs typeface="Amatic SC"/>
              <a:sym typeface="Amatic SC"/>
            </a:endParaRPr>
          </a:p>
        </p:txBody>
      </p:sp>
      <p:pic>
        <p:nvPicPr>
          <p:cNvPr id="81" name="Google Shape;81;p16" title="logo unab.png"/>
          <p:cNvPicPr preferRelativeResize="0"/>
          <p:nvPr/>
        </p:nvPicPr>
        <p:blipFill>
          <a:blip r:embed="rId3">
            <a:alphaModFix/>
          </a:blip>
          <a:stretch>
            <a:fillRect/>
          </a:stretch>
        </p:blipFill>
        <p:spPr>
          <a:xfrm>
            <a:off x="7209100" y="62100"/>
            <a:ext cx="1849800" cy="1006300"/>
          </a:xfrm>
          <a:prstGeom prst="rect">
            <a:avLst/>
          </a:prstGeom>
          <a:noFill/>
          <a:ln>
            <a:noFill/>
          </a:ln>
        </p:spPr>
      </p:pic>
      <p:sp>
        <p:nvSpPr>
          <p:cNvPr id="82" name="Google Shape;82;p16"/>
          <p:cNvSpPr txBox="1"/>
          <p:nvPr/>
        </p:nvSpPr>
        <p:spPr>
          <a:xfrm>
            <a:off x="6935525" y="711325"/>
            <a:ext cx="22299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2"/>
              </a:solidFill>
            </a:endParaRPr>
          </a:p>
        </p:txBody>
      </p:sp>
      <p:sp>
        <p:nvSpPr>
          <p:cNvPr id="83" name="Google Shape;83;p16"/>
          <p:cNvSpPr txBox="1"/>
          <p:nvPr/>
        </p:nvSpPr>
        <p:spPr>
          <a:xfrm>
            <a:off x="5102450" y="1326925"/>
            <a:ext cx="3625200" cy="165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419" sz="1800">
                <a:solidFill>
                  <a:schemeClr val="dk2"/>
                </a:solidFill>
                <a:latin typeface="Amatic SC"/>
                <a:ea typeface="Amatic SC"/>
                <a:cs typeface="Amatic SC"/>
                <a:sym typeface="Amatic SC"/>
              </a:rPr>
              <a:t>un pasajero tiene un nombre, apellido, documento y nacionalidad. y en los vuelos que hace se les agrega equipajes y un historial de vuelo.Estos </a:t>
            </a:r>
            <a:r>
              <a:rPr b="1" lang="es-419" sz="1800">
                <a:solidFill>
                  <a:schemeClr val="dk2"/>
                </a:solidFill>
                <a:latin typeface="Amatic SC"/>
                <a:ea typeface="Amatic SC"/>
                <a:cs typeface="Amatic SC"/>
                <a:sym typeface="Amatic SC"/>
              </a:rPr>
              <a:t>últimos</a:t>
            </a:r>
            <a:r>
              <a:rPr b="1" lang="es-419" sz="1800">
                <a:solidFill>
                  <a:schemeClr val="dk2"/>
                </a:solidFill>
                <a:latin typeface="Amatic SC"/>
                <a:ea typeface="Amatic SC"/>
                <a:cs typeface="Amatic SC"/>
                <a:sym typeface="Amatic SC"/>
              </a:rPr>
              <a:t> se definen como listas donde luego se van a ir cargando los elementos.</a:t>
            </a:r>
            <a:endParaRPr b="1" sz="1800">
              <a:solidFill>
                <a:schemeClr val="dk2"/>
              </a:solidFill>
              <a:latin typeface="Amatic SC"/>
              <a:ea typeface="Amatic SC"/>
              <a:cs typeface="Amatic SC"/>
              <a:sym typeface="Amatic SC"/>
            </a:endParaRPr>
          </a:p>
        </p:txBody>
      </p:sp>
      <p:pic>
        <p:nvPicPr>
          <p:cNvPr descr="a cartoon illustration of a stewardess with a suitcase (proporcionada por Tenor)" id="84" name="Google Shape;84;p16"/>
          <p:cNvPicPr preferRelativeResize="0"/>
          <p:nvPr/>
        </p:nvPicPr>
        <p:blipFill>
          <a:blip r:embed="rId4">
            <a:alphaModFix/>
          </a:blip>
          <a:stretch>
            <a:fillRect/>
          </a:stretch>
        </p:blipFill>
        <p:spPr>
          <a:xfrm>
            <a:off x="6432419" y="2681158"/>
            <a:ext cx="1747850" cy="2371742"/>
          </a:xfrm>
          <a:prstGeom prst="rect">
            <a:avLst/>
          </a:prstGeom>
          <a:noFill/>
          <a:ln>
            <a:noFill/>
          </a:ln>
        </p:spPr>
      </p:pic>
      <p:pic>
        <p:nvPicPr>
          <p:cNvPr descr="an illustration of a woman pushing a cart full of luggage with a red balloon that says ber (proporcionada por Tenor)" id="85" name="Google Shape;85;p16"/>
          <p:cNvPicPr preferRelativeResize="0"/>
          <p:nvPr/>
        </p:nvPicPr>
        <p:blipFill>
          <a:blip r:embed="rId5">
            <a:alphaModFix/>
          </a:blip>
          <a:stretch>
            <a:fillRect/>
          </a:stretch>
        </p:blipFill>
        <p:spPr>
          <a:xfrm>
            <a:off x="2841900" y="2458512"/>
            <a:ext cx="2504972" cy="25312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7"/>
          <p:cNvSpPr txBox="1"/>
          <p:nvPr>
            <p:ph type="title"/>
          </p:nvPr>
        </p:nvSpPr>
        <p:spPr>
          <a:xfrm>
            <a:off x="311700" y="445025"/>
            <a:ext cx="5638800" cy="5535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s-419">
                <a:latin typeface="Amatic SC"/>
                <a:ea typeface="Amatic SC"/>
                <a:cs typeface="Amatic SC"/>
                <a:sym typeface="Amatic SC"/>
              </a:rPr>
              <a:t>Ventajas y desventajas de representación de listas y pilas</a:t>
            </a:r>
            <a:endParaRPr b="1">
              <a:latin typeface="Amatic SC"/>
              <a:ea typeface="Amatic SC"/>
              <a:cs typeface="Amatic SC"/>
              <a:sym typeface="Amatic SC"/>
            </a:endParaRPr>
          </a:p>
        </p:txBody>
      </p:sp>
      <p:sp>
        <p:nvSpPr>
          <p:cNvPr id="91" name="Google Shape;91;p17"/>
          <p:cNvSpPr txBox="1"/>
          <p:nvPr>
            <p:ph idx="1" type="body"/>
          </p:nvPr>
        </p:nvSpPr>
        <p:spPr>
          <a:xfrm>
            <a:off x="311700" y="1152475"/>
            <a:ext cx="8520600" cy="369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852"/>
              <a:buNone/>
            </a:pPr>
            <a:r>
              <a:rPr b="1" lang="es-419" sz="1650">
                <a:latin typeface="Amatic SC"/>
                <a:ea typeface="Amatic SC"/>
                <a:cs typeface="Amatic SC"/>
                <a:sym typeface="Amatic SC"/>
              </a:rPr>
              <a:t>una lista permite el acceso, inserción y eliminación en cualquier posición. nos permite acceder a un elemento por su </a:t>
            </a:r>
            <a:r>
              <a:rPr b="1" lang="es-419" sz="1650">
                <a:latin typeface="Amatic SC"/>
                <a:ea typeface="Amatic SC"/>
                <a:cs typeface="Amatic SC"/>
                <a:sym typeface="Amatic SC"/>
              </a:rPr>
              <a:t>índice</a:t>
            </a:r>
            <a:r>
              <a:rPr b="1" lang="es-419" sz="1650">
                <a:latin typeface="Amatic SC"/>
                <a:ea typeface="Amatic SC"/>
                <a:cs typeface="Amatic SC"/>
                <a:sym typeface="Amatic SC"/>
              </a:rPr>
              <a:t>. es fácil de iterar para encontrar un elemento específico y actualizar sus detalles. pero para insertar o eliminar un elemento en el medio, es lento. ya que requiere mover todos los elementos posteriores y esto puede requerir reasignación de memoria más frecuente. </a:t>
            </a:r>
            <a:endParaRPr b="1" sz="1650">
              <a:latin typeface="Amatic SC"/>
              <a:ea typeface="Amatic SC"/>
              <a:cs typeface="Amatic SC"/>
              <a:sym typeface="Amatic SC"/>
            </a:endParaRPr>
          </a:p>
          <a:p>
            <a:pPr indent="0" lvl="0" marL="0" rtl="0" algn="l">
              <a:spcBef>
                <a:spcPts val="1200"/>
              </a:spcBef>
              <a:spcAft>
                <a:spcPts val="0"/>
              </a:spcAft>
              <a:buSzPts val="852"/>
              <a:buNone/>
            </a:pPr>
            <a:r>
              <a:rPr b="1" lang="es-419" sz="1650">
                <a:latin typeface="Amatic SC"/>
                <a:ea typeface="Amatic SC"/>
                <a:cs typeface="Amatic SC"/>
                <a:sym typeface="Amatic SC"/>
              </a:rPr>
              <a:t>las pilas en cambio es una estructura de datos que sigue el principio lifo (</a:t>
            </a:r>
            <a:r>
              <a:rPr b="1" lang="es-419" sz="1650">
                <a:latin typeface="Amatic SC"/>
                <a:ea typeface="Amatic SC"/>
                <a:cs typeface="Amatic SC"/>
                <a:sym typeface="Amatic SC"/>
              </a:rPr>
              <a:t>último</a:t>
            </a:r>
            <a:r>
              <a:rPr b="1" lang="es-419" sz="1650">
                <a:latin typeface="Amatic SC"/>
                <a:ea typeface="Amatic SC"/>
                <a:cs typeface="Amatic SC"/>
                <a:sym typeface="Amatic SC"/>
              </a:rPr>
              <a:t> en entrar (last - in), primero en salir (first - out). Es decir el último elemento añadido es el primero en ser eliminado. solo permite la </a:t>
            </a:r>
            <a:r>
              <a:rPr b="1" lang="es-419" sz="1650">
                <a:latin typeface="Amatic SC"/>
                <a:ea typeface="Amatic SC"/>
                <a:cs typeface="Amatic SC"/>
                <a:sym typeface="Amatic SC"/>
              </a:rPr>
              <a:t>inserción</a:t>
            </a:r>
            <a:r>
              <a:rPr b="1" lang="es-419" sz="1650">
                <a:latin typeface="Amatic SC"/>
                <a:ea typeface="Amatic SC"/>
                <a:cs typeface="Amatic SC"/>
                <a:sym typeface="Amatic SC"/>
              </a:rPr>
              <a:t> “push” y la eliminación “pop” en un extremo, la “cima”.</a:t>
            </a:r>
            <a:endParaRPr b="1" sz="1650">
              <a:latin typeface="Amatic SC"/>
              <a:ea typeface="Amatic SC"/>
              <a:cs typeface="Amatic SC"/>
              <a:sym typeface="Amatic SC"/>
            </a:endParaRPr>
          </a:p>
          <a:p>
            <a:pPr indent="0" lvl="0" marL="0" rtl="0" algn="l">
              <a:spcBef>
                <a:spcPts val="1200"/>
              </a:spcBef>
              <a:spcAft>
                <a:spcPts val="0"/>
              </a:spcAft>
              <a:buSzPts val="852"/>
              <a:buNone/>
            </a:pPr>
            <a:r>
              <a:rPr b="1" lang="es-419" sz="1650">
                <a:latin typeface="Amatic SC"/>
                <a:ea typeface="Amatic SC"/>
                <a:cs typeface="Amatic SC"/>
                <a:sym typeface="Amatic SC"/>
              </a:rPr>
              <a:t>estas operaciones son extremadamente rápidas, ya que solo se manipula un extremo. </a:t>
            </a:r>
            <a:endParaRPr b="1" sz="1650">
              <a:latin typeface="Amatic SC"/>
              <a:ea typeface="Amatic SC"/>
              <a:cs typeface="Amatic SC"/>
              <a:sym typeface="Amatic SC"/>
            </a:endParaRPr>
          </a:p>
          <a:p>
            <a:pPr indent="0" lvl="0" marL="0" rtl="0" algn="l">
              <a:spcBef>
                <a:spcPts val="1200"/>
              </a:spcBef>
              <a:spcAft>
                <a:spcPts val="0"/>
              </a:spcAft>
              <a:buSzPts val="852"/>
              <a:buNone/>
            </a:pPr>
            <a:r>
              <a:rPr b="1" lang="es-419" sz="1650">
                <a:latin typeface="Amatic SC"/>
                <a:ea typeface="Amatic SC"/>
                <a:cs typeface="Amatic SC"/>
                <a:sym typeface="Amatic SC"/>
              </a:rPr>
              <a:t>la desventaja es que tiene acceso restringido, ya que solo se puede acceder al elemento superior. acceder a otro elemento requiere la eliminación de todos los elementos que están por encima.</a:t>
            </a:r>
            <a:endParaRPr b="1" sz="1650">
              <a:latin typeface="Amatic SC"/>
              <a:ea typeface="Amatic SC"/>
              <a:cs typeface="Amatic SC"/>
              <a:sym typeface="Amatic SC"/>
            </a:endParaRPr>
          </a:p>
          <a:p>
            <a:pPr indent="0" lvl="0" marL="0" rtl="0" algn="l">
              <a:spcBef>
                <a:spcPts val="1200"/>
              </a:spcBef>
              <a:spcAft>
                <a:spcPts val="1200"/>
              </a:spcAft>
              <a:buSzPts val="852"/>
              <a:buNone/>
            </a:pPr>
            <a:r>
              <a:rPr b="1" lang="es-419" sz="1650">
                <a:latin typeface="Amatic SC"/>
                <a:ea typeface="Amatic SC"/>
                <a:cs typeface="Amatic SC"/>
                <a:sym typeface="Amatic SC"/>
              </a:rPr>
              <a:t>solo es útil para situaciones que encajan estrictamente con el </a:t>
            </a:r>
            <a:r>
              <a:rPr b="1" lang="es-419" sz="1650">
                <a:latin typeface="Amatic SC"/>
                <a:ea typeface="Amatic SC"/>
                <a:cs typeface="Amatic SC"/>
                <a:sym typeface="Amatic SC"/>
              </a:rPr>
              <a:t>patrón</a:t>
            </a:r>
            <a:r>
              <a:rPr b="1" lang="es-419" sz="1650">
                <a:latin typeface="Amatic SC"/>
                <a:ea typeface="Amatic SC"/>
                <a:cs typeface="Amatic SC"/>
                <a:sym typeface="Amatic SC"/>
              </a:rPr>
              <a:t> lifo.</a:t>
            </a:r>
            <a:endParaRPr b="1" sz="1650">
              <a:latin typeface="Amatic SC"/>
              <a:ea typeface="Amatic SC"/>
              <a:cs typeface="Amatic SC"/>
              <a:sym typeface="Amatic SC"/>
            </a:endParaRPr>
          </a:p>
        </p:txBody>
      </p:sp>
      <p:pic>
        <p:nvPicPr>
          <p:cNvPr id="92" name="Google Shape;92;p17" title="logo unab.png"/>
          <p:cNvPicPr preferRelativeResize="0"/>
          <p:nvPr/>
        </p:nvPicPr>
        <p:blipFill>
          <a:blip r:embed="rId3">
            <a:alphaModFix/>
          </a:blip>
          <a:stretch>
            <a:fillRect/>
          </a:stretch>
        </p:blipFill>
        <p:spPr>
          <a:xfrm>
            <a:off x="6826100" y="153375"/>
            <a:ext cx="1836600" cy="9991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s-419">
                <a:latin typeface="Amatic SC"/>
                <a:ea typeface="Amatic SC"/>
                <a:cs typeface="Amatic SC"/>
                <a:sym typeface="Amatic SC"/>
              </a:rPr>
              <a:t>justificación para la representación de pilas o listas</a:t>
            </a:r>
            <a:endParaRPr b="1">
              <a:latin typeface="Amatic SC"/>
              <a:ea typeface="Amatic SC"/>
              <a:cs typeface="Amatic SC"/>
              <a:sym typeface="Amatic SC"/>
            </a:endParaRPr>
          </a:p>
        </p:txBody>
      </p:sp>
      <p:sp>
        <p:nvSpPr>
          <p:cNvPr id="98" name="Google Shape;98;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s-419">
                <a:latin typeface="Amatic SC"/>
                <a:ea typeface="Amatic SC"/>
                <a:cs typeface="Amatic SC"/>
                <a:sym typeface="Amatic SC"/>
              </a:rPr>
              <a:t>analizando las ventajas y desventajas de la </a:t>
            </a:r>
            <a:r>
              <a:rPr b="1" lang="es-419">
                <a:latin typeface="Amatic SC"/>
                <a:ea typeface="Amatic SC"/>
                <a:cs typeface="Amatic SC"/>
                <a:sym typeface="Amatic SC"/>
              </a:rPr>
              <a:t>representación</a:t>
            </a:r>
            <a:r>
              <a:rPr b="1" lang="es-419">
                <a:latin typeface="Amatic SC"/>
                <a:ea typeface="Amatic SC"/>
                <a:cs typeface="Amatic SC"/>
                <a:sym typeface="Amatic SC"/>
              </a:rPr>
              <a:t> de pilas y listas:</a:t>
            </a:r>
            <a:endParaRPr b="1">
              <a:latin typeface="Amatic SC"/>
              <a:ea typeface="Amatic SC"/>
              <a:cs typeface="Amatic SC"/>
              <a:sym typeface="Amatic SC"/>
            </a:endParaRPr>
          </a:p>
          <a:p>
            <a:pPr indent="0" lvl="0" marL="0" rtl="0" algn="l">
              <a:spcBef>
                <a:spcPts val="1200"/>
              </a:spcBef>
              <a:spcAft>
                <a:spcPts val="0"/>
              </a:spcAft>
              <a:buNone/>
            </a:pPr>
            <a:r>
              <a:rPr b="1" lang="es-419">
                <a:latin typeface="Amatic SC"/>
                <a:ea typeface="Amatic SC"/>
                <a:cs typeface="Amatic SC"/>
                <a:sym typeface="Amatic SC"/>
              </a:rPr>
              <a:t>para agregar o eliminar equipaje, que no siempre en el caso de eliminar un equipaje por ejemplo (en el caso que el pasajero decida no llevar alguno de ellos), no necesariamente va a ser el </a:t>
            </a:r>
            <a:r>
              <a:rPr b="1" lang="es-419">
                <a:latin typeface="Amatic SC"/>
                <a:ea typeface="Amatic SC"/>
                <a:cs typeface="Amatic SC"/>
                <a:sym typeface="Amatic SC"/>
              </a:rPr>
              <a:t>último</a:t>
            </a:r>
            <a:r>
              <a:rPr b="1" lang="es-419">
                <a:latin typeface="Amatic SC"/>
                <a:ea typeface="Amatic SC"/>
                <a:cs typeface="Amatic SC"/>
                <a:sym typeface="Amatic SC"/>
              </a:rPr>
              <a:t> que se </a:t>
            </a:r>
            <a:r>
              <a:rPr b="1" lang="es-419">
                <a:latin typeface="Amatic SC"/>
                <a:ea typeface="Amatic SC"/>
                <a:cs typeface="Amatic SC"/>
                <a:sym typeface="Amatic SC"/>
              </a:rPr>
              <a:t>cargó</a:t>
            </a:r>
            <a:r>
              <a:rPr b="1" lang="es-419">
                <a:latin typeface="Amatic SC"/>
                <a:ea typeface="Amatic SC"/>
                <a:cs typeface="Amatic SC"/>
                <a:sym typeface="Amatic SC"/>
              </a:rPr>
              <a:t>, puede por ejemplo llevar un bolso pequeño, una mochila y un bolso grande, cargado en ese orden, pero luego decide dejar la mochila, que se </a:t>
            </a:r>
            <a:r>
              <a:rPr b="1" lang="es-419">
                <a:latin typeface="Amatic SC"/>
                <a:ea typeface="Amatic SC"/>
                <a:cs typeface="Amatic SC"/>
                <a:sym typeface="Amatic SC"/>
              </a:rPr>
              <a:t>encontraba</a:t>
            </a:r>
            <a:r>
              <a:rPr b="1" lang="es-419">
                <a:latin typeface="Amatic SC"/>
                <a:ea typeface="Amatic SC"/>
                <a:cs typeface="Amatic SC"/>
                <a:sym typeface="Amatic SC"/>
              </a:rPr>
              <a:t> en la </a:t>
            </a:r>
            <a:r>
              <a:rPr b="1" lang="es-419">
                <a:latin typeface="Amatic SC"/>
                <a:ea typeface="Amatic SC"/>
                <a:cs typeface="Amatic SC"/>
                <a:sym typeface="Amatic SC"/>
              </a:rPr>
              <a:t>posición</a:t>
            </a:r>
            <a:r>
              <a:rPr b="1" lang="es-419">
                <a:latin typeface="Amatic SC"/>
                <a:ea typeface="Amatic SC"/>
                <a:cs typeface="Amatic SC"/>
                <a:sym typeface="Amatic SC"/>
              </a:rPr>
              <a:t> [1] de la lista, es necesario acceder al elemento por posición, por lo que se encontraría más útil la representación de listas.</a:t>
            </a:r>
            <a:endParaRPr b="1">
              <a:latin typeface="Amatic SC"/>
              <a:ea typeface="Amatic SC"/>
              <a:cs typeface="Amatic SC"/>
              <a:sym typeface="Amatic SC"/>
            </a:endParaRPr>
          </a:p>
          <a:p>
            <a:pPr indent="0" lvl="0" marL="0" rtl="0" algn="l">
              <a:spcBef>
                <a:spcPts val="1200"/>
              </a:spcBef>
              <a:spcAft>
                <a:spcPts val="1200"/>
              </a:spcAft>
              <a:buNone/>
            </a:pPr>
            <a:r>
              <a:rPr b="1" lang="es-419">
                <a:latin typeface="Amatic SC"/>
                <a:ea typeface="Amatic SC"/>
                <a:cs typeface="Amatic SC"/>
                <a:sym typeface="Amatic SC"/>
              </a:rPr>
              <a:t>sin embargo, en el caso de historial de vuelo, en el caso de cancelar un vuelo siempre sería el </a:t>
            </a:r>
            <a:r>
              <a:rPr b="1" lang="es-419">
                <a:latin typeface="Amatic SC"/>
                <a:ea typeface="Amatic SC"/>
                <a:cs typeface="Amatic SC"/>
                <a:sym typeface="Amatic SC"/>
              </a:rPr>
              <a:t>último</a:t>
            </a:r>
            <a:r>
              <a:rPr b="1" lang="es-419">
                <a:latin typeface="Amatic SC"/>
                <a:ea typeface="Amatic SC"/>
                <a:cs typeface="Amatic SC"/>
                <a:sym typeface="Amatic SC"/>
              </a:rPr>
              <a:t>, No necesitamos acceder por posición para agregar o eliminar, por lo que resulta </a:t>
            </a:r>
            <a:r>
              <a:rPr b="1" lang="es-419">
                <a:latin typeface="Amatic SC"/>
                <a:ea typeface="Amatic SC"/>
                <a:cs typeface="Amatic SC"/>
                <a:sym typeface="Amatic SC"/>
              </a:rPr>
              <a:t>más</a:t>
            </a:r>
            <a:r>
              <a:rPr b="1" lang="es-419">
                <a:latin typeface="Amatic SC"/>
                <a:ea typeface="Amatic SC"/>
                <a:cs typeface="Amatic SC"/>
                <a:sym typeface="Amatic SC"/>
              </a:rPr>
              <a:t> </a:t>
            </a:r>
            <a:r>
              <a:rPr b="1" lang="es-419">
                <a:latin typeface="Amatic SC"/>
                <a:ea typeface="Amatic SC"/>
                <a:cs typeface="Amatic SC"/>
                <a:sym typeface="Amatic SC"/>
              </a:rPr>
              <a:t>práctico</a:t>
            </a:r>
            <a:r>
              <a:rPr b="1" lang="es-419">
                <a:latin typeface="Amatic SC"/>
                <a:ea typeface="Amatic SC"/>
                <a:cs typeface="Amatic SC"/>
                <a:sym typeface="Amatic SC"/>
              </a:rPr>
              <a:t> y eficiente la representación de pilas.</a:t>
            </a:r>
            <a:endParaRPr b="1">
              <a:latin typeface="Amatic SC"/>
              <a:ea typeface="Amatic SC"/>
              <a:cs typeface="Amatic SC"/>
              <a:sym typeface="Amatic SC"/>
            </a:endParaRPr>
          </a:p>
        </p:txBody>
      </p:sp>
      <p:pic>
        <p:nvPicPr>
          <p:cNvPr id="99" name="Google Shape;99;p18" title="logo unab.png"/>
          <p:cNvPicPr preferRelativeResize="0"/>
          <p:nvPr/>
        </p:nvPicPr>
        <p:blipFill>
          <a:blip r:embed="rId3">
            <a:alphaModFix/>
          </a:blip>
          <a:stretch>
            <a:fillRect/>
          </a:stretch>
        </p:blipFill>
        <p:spPr>
          <a:xfrm>
            <a:off x="6881825" y="239125"/>
            <a:ext cx="1809750" cy="9845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